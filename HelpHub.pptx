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068A79B5-C9E2-592E-724C-B0294C6C39D2}">
          <p14:sldIdLst>
            <p14:sldId id="256"/>
            <p14:sldId id="257"/>
          </p14:sldIdLst>
        </p14:section>
        <p14:section name="Overview" id="{F38C70EE-5922-7CA9-365E-38E2AFED34A9}">
          <p14:sldIdLst>
            <p14:sldId id="258"/>
            <p14:sldId id="259"/>
          </p14:sldIdLst>
        </p14:section>
        <p14:section name="Design" id="{D293D0CD-EB60-14E4-2D61-281BF623E1D5}">
          <p14:sldIdLst>
            <p14:sldId id="261"/>
            <p14:sldId id="262"/>
          </p14:sldIdLst>
        </p14:section>
        <p14:section name="Build" id="{6B866265-444D-9DE0-E87E-420C2F31D258}">
          <p14:sldIdLst>
            <p14:sldId id="263"/>
            <p14:sldId id="264"/>
          </p14:sldIdLst>
        </p14:section>
        <p14:section name="Working" id="{C2E4F899-76E6-C189-5530-BC250C388E70}">
          <p14:sldIdLst>
            <p14:sldId id="265"/>
            <p14:sldId id="266"/>
            <p14:sldId id="267"/>
          </p14:sldIdLst>
        </p14:section>
        <p14:section name="Run" id="{D223EF1D-8E9D-21F9-D9AA-834CFCA4C2EA}">
          <p14:sldIdLst>
            <p14:sldId id="269"/>
          </p14:sldIdLst>
        </p14:section>
        <p14:section name="Wrap-up" id="{099544C4-B7AE-F363-2632-81E9435EB994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5457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7731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Year: 3rd Year | Branch: CSE | Section: C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47731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Year: 3rd Year | Branch: CSE | Section: C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mp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tm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jwt.io" TargetMode="External"/><Relationship Id="rId3" Type="http://schemas.openxmlformats.org/officeDocument/2006/relationships/hyperlink" Target="https://react.dev" TargetMode="External"/><Relationship Id="rId7" Type="http://schemas.openxmlformats.org/officeDocument/2006/relationships/hyperlink" Target="https://dev.mysql.com/doc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xpressjs.com" TargetMode="External"/><Relationship Id="rId5" Type="http://schemas.openxmlformats.org/officeDocument/2006/relationships/hyperlink" Target="https://nodejs.org" TargetMode="External"/><Relationship Id="rId4" Type="http://schemas.openxmlformats.org/officeDocument/2006/relationships/hyperlink" Target="https://vite.dev" TargetMode="External"/><Relationship Id="rId9" Type="http://schemas.openxmlformats.org/officeDocument/2006/relationships/hyperlink" Target="https://github.com/Vamsi645/HelpHub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lleg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74320"/>
            <a:ext cx="731520" cy="7680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274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N.B.K.R. INSTITUTE OF SCIENCE AND TECHNOLOGY (AUTONOMOUS)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1280160" y="5943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Affiliated to JNTUA, Ananthapuramu &amp; Accredited by NAAC with ‘A’ Grade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 Accredited by NBA Under Tier-I  |  Vidyanagar, Tirupathi Dist., A.P., India - 524413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BYTEXL PROJECT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Title: HelpHub - A-Z Home Services</a:t>
            </a:r>
            <a:endParaRPr lang="en-US" sz="2800" dirty="0"/>
          </a:p>
        </p:txBody>
      </p:sp>
      <p:sp>
        <p:nvSpPr>
          <p:cNvPr id="7" name="Team card"/>
          <p:cNvSpPr/>
          <p:nvPr/>
        </p:nvSpPr>
        <p:spPr>
          <a:xfrm>
            <a:off x="731520" y="2560320"/>
            <a:ext cx="7680960" cy="1920240"/>
          </a:xfrm>
          <a:prstGeom prst="roundRect">
            <a:avLst>
              <a:gd name="adj" fmla="val 4762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 txBox="1"/>
          <p:nvPr/>
        </p:nvSpPr>
        <p:spPr>
          <a:xfrm>
            <a:off x="100584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Members: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0632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K.Mohith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(24KB1A05V9) (Team Leader)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D.Vamsikrishna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(24KB1A05C6)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K.Rajesh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(24KB1A05S8)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30632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B.Hajarath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Babu (24KB1A0571)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B.Vijay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Kumar (24KB1A0555)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P.Mukesh</a:t>
            </a: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(24KB1A05CS)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200" dirty="0"/>
          </a:p>
        </p:txBody>
      </p:sp>
      <p:sp>
        <p:nvSpPr>
          <p:cNvPr id="3" name="Index number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6" name="Index number 2"/>
          <p:cNvSpPr/>
          <p:nvPr/>
        </p:nvSpPr>
        <p:spPr>
          <a:xfrm>
            <a:off x="457200" y="173736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4572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9" name="Index number 3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64208" y="467715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2" name="Index number 4"/>
          <p:cNvSpPr/>
          <p:nvPr/>
        </p:nvSpPr>
        <p:spPr>
          <a:xfrm>
            <a:off x="457200" y="283464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2860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Structure</a:t>
            </a:r>
            <a:endParaRPr lang="en-US" sz="1600" dirty="0"/>
          </a:p>
        </p:txBody>
      </p:sp>
      <p:sp>
        <p:nvSpPr>
          <p:cNvPr id="15" name="Index number 5"/>
          <p:cNvSpPr/>
          <p:nvPr/>
        </p:nvSpPr>
        <p:spPr>
          <a:xfrm>
            <a:off x="457200" y="338328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457200" y="3383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90093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</a:t>
            </a:r>
            <a:endParaRPr lang="en-US" sz="1600" dirty="0"/>
          </a:p>
        </p:txBody>
      </p:sp>
      <p:sp>
        <p:nvSpPr>
          <p:cNvPr id="18" name="Index number 6"/>
          <p:cNvSpPr/>
          <p:nvPr/>
        </p:nvSpPr>
        <p:spPr>
          <a:xfrm>
            <a:off x="4663440" y="1201294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37185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600" dirty="0"/>
          </a:p>
        </p:txBody>
      </p:sp>
      <p:sp>
        <p:nvSpPr>
          <p:cNvPr id="21" name="Index number 7"/>
          <p:cNvSpPr/>
          <p:nvPr/>
        </p:nvSpPr>
        <p:spPr>
          <a:xfrm>
            <a:off x="4663440" y="1739646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 txBox="1"/>
          <p:nvPr/>
        </p:nvSpPr>
        <p:spPr>
          <a:xfrm>
            <a:off x="4663440" y="17396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11887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24" name="Index number 8"/>
          <p:cNvSpPr/>
          <p:nvPr/>
        </p:nvSpPr>
        <p:spPr>
          <a:xfrm>
            <a:off x="4663440" y="2281429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5" name="Text 23"/>
          <p:cNvSpPr txBox="1"/>
          <p:nvPr/>
        </p:nvSpPr>
        <p:spPr>
          <a:xfrm>
            <a:off x="466344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17373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</a:t>
            </a:r>
            <a:endParaRPr lang="en-US" sz="1600" dirty="0"/>
          </a:p>
        </p:txBody>
      </p:sp>
      <p:sp>
        <p:nvSpPr>
          <p:cNvPr id="27" name="Index number 9"/>
          <p:cNvSpPr/>
          <p:nvPr/>
        </p:nvSpPr>
        <p:spPr>
          <a:xfrm>
            <a:off x="4663440" y="2836926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212080" y="228600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Lifecycle</a:t>
            </a:r>
            <a:endParaRPr lang="en-US" sz="1600" dirty="0"/>
          </a:p>
        </p:txBody>
      </p:sp>
      <p:sp>
        <p:nvSpPr>
          <p:cNvPr id="30" name="Index number 10"/>
          <p:cNvSpPr/>
          <p:nvPr/>
        </p:nvSpPr>
        <p:spPr>
          <a:xfrm>
            <a:off x="4663440" y="3383280"/>
            <a:ext cx="384048" cy="384048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31" name="Text 29"/>
          <p:cNvSpPr txBox="1"/>
          <p:nvPr/>
        </p:nvSpPr>
        <p:spPr>
          <a:xfrm>
            <a:off x="4663440" y="3390139"/>
            <a:ext cx="38404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212080" y="4433327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3464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and Demo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260525" y="3378709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everyday home services such as cleaning, plumbing and electrical work is often unorganized and informal.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HelpHub is a full-stack web platform for booking A-Z home services.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book services, workers claim and complete jobs, and admins monitor everything.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React, Express and MySQL, with JWT-secured, role-based access.</a:t>
            </a:r>
            <a:endParaRPr lang="en-US" sz="1600" dirty="0"/>
          </a:p>
        </p:txBody>
      </p:sp>
      <p:sp>
        <p:nvSpPr>
          <p:cNvPr id="4" name="Stat user roles"/>
          <p:cNvSpPr/>
          <p:nvPr/>
        </p:nvSpPr>
        <p:spPr>
          <a:xfrm>
            <a:off x="5943600" y="118872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 txBox="1"/>
          <p:nvPr/>
        </p:nvSpPr>
        <p:spPr>
          <a:xfrm>
            <a:off x="6080760" y="1188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1188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</a:t>
            </a:r>
            <a:endParaRPr lang="en-US" sz="1600" dirty="0"/>
          </a:p>
        </p:txBody>
      </p:sp>
      <p:sp>
        <p:nvSpPr>
          <p:cNvPr id="10" name="Stat booking stages"/>
          <p:cNvSpPr/>
          <p:nvPr/>
        </p:nvSpPr>
        <p:spPr>
          <a:xfrm>
            <a:off x="5943600" y="338328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 txBox="1"/>
          <p:nvPr/>
        </p:nvSpPr>
        <p:spPr>
          <a:xfrm>
            <a:off x="6080760" y="338328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832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stages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Problem row 1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457200" cy="45720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17320"/>
            <a:ext cx="219456" cy="219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8872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trusted workers for everyday home services is slow and unorganized.</a:t>
            </a:r>
            <a:endParaRPr lang="en-US" sz="1600" dirty="0"/>
          </a:p>
        </p:txBody>
      </p:sp>
      <p:sp>
        <p:nvSpPr>
          <p:cNvPr id="7" name="Problem row 2"/>
          <p:cNvSpPr/>
          <p:nvPr/>
        </p:nvSpPr>
        <p:spPr>
          <a:xfrm>
            <a:off x="457200" y="201168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594360" y="2121408"/>
            <a:ext cx="457200" cy="45720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240280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01168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have no single place to compare services, starting prices and booking progress.</a:t>
            </a:r>
            <a:endParaRPr lang="en-US" sz="1600" dirty="0"/>
          </a:p>
        </p:txBody>
      </p:sp>
      <p:sp>
        <p:nvSpPr>
          <p:cNvPr id="11" name="Problem row 3"/>
          <p:cNvSpPr/>
          <p:nvPr/>
        </p:nvSpPr>
        <p:spPr>
          <a:xfrm>
            <a:off x="457200" y="283464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Shape 8"/>
          <p:cNvSpPr/>
          <p:nvPr/>
        </p:nvSpPr>
        <p:spPr>
          <a:xfrm>
            <a:off x="594360" y="2944368"/>
            <a:ext cx="457200" cy="45720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06324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283464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have no simple way to find and claim unassigned service requests.</a:t>
            </a:r>
            <a:endParaRPr lang="en-US" sz="1600" dirty="0"/>
          </a:p>
        </p:txBody>
      </p:sp>
      <p:sp>
        <p:nvSpPr>
          <p:cNvPr id="15" name="Problem row 4"/>
          <p:cNvSpPr/>
          <p:nvPr/>
        </p:nvSpPr>
        <p:spPr>
          <a:xfrm>
            <a:off x="457200" y="365760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594360" y="3767328"/>
            <a:ext cx="457200" cy="45720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886200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6576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Admins lack a central dashboard to assign workers and track completed work and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Structure</a:t>
            </a:r>
            <a:endParaRPr lang="en-US" sz="3200" dirty="0"/>
          </a:p>
        </p:txBody>
      </p:sp>
      <p:sp>
        <p:nvSpPr>
          <p:cNvPr id="3" name="Tree card"/>
          <p:cNvSpPr/>
          <p:nvPr/>
        </p:nvSpPr>
        <p:spPr>
          <a:xfrm>
            <a:off x="457200" y="1143000"/>
            <a:ext cx="4297680" cy="3429000"/>
          </a:xfrm>
          <a:prstGeom prst="roundRect">
            <a:avLst>
              <a:gd name="adj" fmla="val 2667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HelpHub/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backend/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config/db.js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create-admin.js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server.js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database/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az_home_services.sql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seed_services.sql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frontend/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src/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components/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pages/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services/api.js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App.jsx</a:t>
            </a:r>
            <a:endParaRPr lang="en-US" sz="1200" dirty="0"/>
          </a:p>
        </p:txBody>
      </p:sp>
      <p:sp>
        <p:nvSpPr>
          <p:cNvPr id="5" name="Folder card backend"/>
          <p:cNvSpPr/>
          <p:nvPr/>
        </p:nvSpPr>
        <p:spPr>
          <a:xfrm>
            <a:off x="5029200" y="1143000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5166360" y="1252728"/>
            <a:ext cx="384048" cy="384048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back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1353312"/>
            <a:ext cx="182880" cy="182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0" y="1234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6733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REST API, MySQL connection and the admin-creation script.</a:t>
            </a:r>
            <a:endParaRPr lang="en-US" sz="1400" dirty="0"/>
          </a:p>
        </p:txBody>
      </p:sp>
      <p:sp>
        <p:nvSpPr>
          <p:cNvPr id="10" name="Folder card database"/>
          <p:cNvSpPr/>
          <p:nvPr/>
        </p:nvSpPr>
        <p:spPr>
          <a:xfrm>
            <a:off x="5029200" y="2313432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5166360" y="2423160"/>
            <a:ext cx="384048" cy="384048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1" descr="databas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6944" y="2523744"/>
            <a:ext cx="182880" cy="1828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669280" y="2404872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166360" y="28437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schema for az_home_services plus sample service catalog.</a:t>
            </a:r>
            <a:endParaRPr lang="en-US" sz="1400" dirty="0"/>
          </a:p>
        </p:txBody>
      </p:sp>
      <p:sp>
        <p:nvSpPr>
          <p:cNvPr id="15" name="Folder card frontend"/>
          <p:cNvSpPr/>
          <p:nvPr/>
        </p:nvSpPr>
        <p:spPr>
          <a:xfrm>
            <a:off x="5029200" y="3483864"/>
            <a:ext cx="3657600" cy="1051560"/>
          </a:xfrm>
          <a:prstGeom prst="roundRect">
            <a:avLst>
              <a:gd name="adj" fmla="val 869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5166360" y="3593592"/>
            <a:ext cx="384048" cy="384048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fronte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369417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669280" y="35753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166360" y="40142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UI: pages, components and an API client (api.js).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of HelpHub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332841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Authentication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 and log in with bcrypt hashes and JWT tokens.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Catalog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 and search services by name or category.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 Management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Customers create, view and cancel their bookings.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Worker Module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Maintain a profile, claim requests, update job status.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 Dashboard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enrollments, assign workers, track revenue.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Control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 role checks protect every sensitive endpoint.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3200" dirty="0"/>
          </a:p>
        </p:txBody>
      </p:sp>
      <p:sp>
        <p:nvSpPr>
          <p:cNvPr id="3" name="Software card"/>
          <p:cNvSpPr/>
          <p:nvPr/>
        </p:nvSpPr>
        <p:spPr>
          <a:xfrm>
            <a:off x="457200" y="1143000"/>
            <a:ext cx="4572000" cy="3383280"/>
          </a:xfrm>
          <a:prstGeom prst="roundRect">
            <a:avLst>
              <a:gd name="adj" fmla="val 2703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requirements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4206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with Vite, HTML, CSS, JavaScript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and Express.js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(XAMPP and phpMyAdmin)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 password hashes, JWT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</a:t>
            </a: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Studio Code, Git, npm</a:t>
            </a:r>
            <a:endParaRPr lang="en-US" sz="1600" dirty="0"/>
          </a:p>
        </p:txBody>
      </p:sp>
      <p:sp>
        <p:nvSpPr>
          <p:cNvPr id="6" name="Hardware card"/>
          <p:cNvSpPr/>
          <p:nvPr/>
        </p:nvSpPr>
        <p:spPr>
          <a:xfrm>
            <a:off x="5303520" y="11430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5532120" y="1280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requirements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7373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or laptop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connection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web browser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Arch box React Frontend"/>
          <p:cNvSpPr/>
          <p:nvPr/>
        </p:nvSpPr>
        <p:spPr>
          <a:xfrm>
            <a:off x="457200" y="1188720"/>
            <a:ext cx="2103120" cy="1828800"/>
          </a:xfrm>
          <a:prstGeom prst="roundRect">
            <a:avLst>
              <a:gd name="adj" fmla="val 6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234440" y="1325880"/>
            <a:ext cx="548640" cy="54864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React Fronte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744" y="147218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Frontend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317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 dev server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localhost:5173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2651760" y="1920240"/>
            <a:ext cx="731520" cy="36576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Arch box Express API"/>
          <p:cNvSpPr/>
          <p:nvPr/>
        </p:nvSpPr>
        <p:spPr>
          <a:xfrm>
            <a:off x="3520440" y="1188720"/>
            <a:ext cx="2103120" cy="1828800"/>
          </a:xfrm>
          <a:prstGeom prst="roundRect">
            <a:avLst>
              <a:gd name="adj" fmla="val 6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4297680" y="1325880"/>
            <a:ext cx="548640" cy="54864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Express AP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984" y="147218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2044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API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23317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server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localhost:5001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5715000" y="1920240"/>
            <a:ext cx="731520" cy="36576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Arch box MySQL Database"/>
          <p:cNvSpPr/>
          <p:nvPr/>
        </p:nvSpPr>
        <p:spPr>
          <a:xfrm>
            <a:off x="6583680" y="1188720"/>
            <a:ext cx="2103120" cy="1828800"/>
          </a:xfrm>
          <a:prstGeom prst="roundRect">
            <a:avLst>
              <a:gd name="adj" fmla="val 6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7360920" y="1325880"/>
            <a:ext cx="548640" cy="548640"/>
          </a:xfrm>
          <a:prstGeom prst="ellipse">
            <a:avLst/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2" descr="MySQL Databa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4" y="147218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58368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Database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0" y="233172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az_home_services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XAMPP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888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+ JWT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5532120" y="1508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queries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457200" y="324612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React app calls the API through services/api.js and sends Authorization: Bearer &lt;token&gt;.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 validates the JWT and the user’s role before running any protected route.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stores accounts, services and bookings; booking prices are saved at booking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Roles</a:t>
            </a:r>
            <a:endParaRPr lang="en-US" sz="3200" dirty="0"/>
          </a:p>
        </p:txBody>
      </p:sp>
      <p:sp>
        <p:nvSpPr>
          <p:cNvPr id="3" name="Role card Customer"/>
          <p:cNvSpPr/>
          <p:nvPr/>
        </p:nvSpPr>
        <p:spPr>
          <a:xfrm>
            <a:off x="457200" y="114300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Custo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6596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 and signs in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Searches services and books a future date/time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 own bookings; cancels pending or confirmed ones</a:t>
            </a:r>
            <a:endParaRPr lang="en-US" sz="1400" dirty="0"/>
          </a:p>
        </p:txBody>
      </p:sp>
      <p:sp>
        <p:nvSpPr>
          <p:cNvPr id="8" name="Role card Worker"/>
          <p:cNvSpPr/>
          <p:nvPr/>
        </p:nvSpPr>
        <p:spPr>
          <a:xfrm>
            <a:off x="3291840" y="114300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3474720" y="1280160"/>
            <a:ext cx="502920" cy="502920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Work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4173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14800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196596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Maintains a basic profile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unassigned pending requests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jobs to in progress and completed</a:t>
            </a:r>
            <a:endParaRPr lang="en-US" sz="1400" dirty="0"/>
          </a:p>
        </p:txBody>
      </p:sp>
      <p:sp>
        <p:nvSpPr>
          <p:cNvPr id="13" name="Role card Admin"/>
          <p:cNvSpPr/>
          <p:nvPr/>
        </p:nvSpPr>
        <p:spPr>
          <a:xfrm>
            <a:off x="6126480" y="114300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309360" y="1280160"/>
            <a:ext cx="502920" cy="502920"/>
          </a:xfrm>
          <a:prstGeom prst="ellipse">
            <a:avLst/>
          </a:prstGeom>
          <a:solidFill>
            <a:srgbClr val="11274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Adm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41732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49440" y="12801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309360" y="196596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from the terminal (npm run create-admin)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Views enrollments and assigns workers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live booking and revenue totals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Lifecycle</a:t>
            </a:r>
            <a:endParaRPr lang="en-US" sz="3200" dirty="0"/>
          </a:p>
        </p:txBody>
      </p:sp>
      <p:sp>
        <p:nvSpPr>
          <p:cNvPr id="3" name="Status pending"/>
          <p:cNvSpPr/>
          <p:nvPr/>
        </p:nvSpPr>
        <p:spPr>
          <a:xfrm>
            <a:off x="457200" y="12344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600" dirty="0"/>
          </a:p>
        </p:txBody>
      </p:sp>
      <p:sp>
        <p:nvSpPr>
          <p:cNvPr id="5" name="Status arrow 1"/>
          <p:cNvSpPr/>
          <p:nvPr/>
        </p:nvSpPr>
        <p:spPr>
          <a:xfrm>
            <a:off x="2176272" y="1444752"/>
            <a:ext cx="365760" cy="310896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tatus confirmed"/>
          <p:cNvSpPr/>
          <p:nvPr/>
        </p:nvSpPr>
        <p:spPr>
          <a:xfrm>
            <a:off x="2606040" y="12344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260604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1600" dirty="0"/>
          </a:p>
        </p:txBody>
      </p:sp>
      <p:sp>
        <p:nvSpPr>
          <p:cNvPr id="8" name="Status arrow 2"/>
          <p:cNvSpPr/>
          <p:nvPr/>
        </p:nvSpPr>
        <p:spPr>
          <a:xfrm>
            <a:off x="4325112" y="1444752"/>
            <a:ext cx="365760" cy="310896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atus in_progress"/>
          <p:cNvSpPr/>
          <p:nvPr/>
        </p:nvSpPr>
        <p:spPr>
          <a:xfrm>
            <a:off x="4754880" y="12344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475488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in_progress</a:t>
            </a:r>
            <a:endParaRPr lang="en-US" sz="1600" dirty="0"/>
          </a:p>
        </p:txBody>
      </p:sp>
      <p:sp>
        <p:nvSpPr>
          <p:cNvPr id="11" name="Status arrow 3"/>
          <p:cNvSpPr/>
          <p:nvPr/>
        </p:nvSpPr>
        <p:spPr>
          <a:xfrm>
            <a:off x="6473952" y="1444752"/>
            <a:ext cx="365760" cy="310896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atus completed"/>
          <p:cNvSpPr/>
          <p:nvPr/>
        </p:nvSpPr>
        <p:spPr>
          <a:xfrm>
            <a:off x="6903720" y="12344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6903720" y="12344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may cancel while the booking is pending or confirmed. A worker can only advance their own booking, one step at a time.</a:t>
            </a:r>
            <a:endParaRPr lang="en-US" sz="1400" dirty="0"/>
          </a:p>
        </p:txBody>
      </p:sp>
      <p:sp>
        <p:nvSpPr>
          <p:cNvPr id="15" name="Rule card One claim only"/>
          <p:cNvSpPr/>
          <p:nvPr/>
        </p:nvSpPr>
        <p:spPr>
          <a:xfrm>
            <a:off x="457200" y="28346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0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71800"/>
            <a:ext cx="274320" cy="274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5156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claim only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one available worker can claim an unassigned request.</a:t>
            </a:r>
            <a:endParaRPr lang="en-US" sz="1400" dirty="0"/>
          </a:p>
        </p:txBody>
      </p:sp>
      <p:sp>
        <p:nvSpPr>
          <p:cNvPr id="19" name="Rule card Privacy"/>
          <p:cNvSpPr/>
          <p:nvPr/>
        </p:nvSpPr>
        <p:spPr>
          <a:xfrm>
            <a:off x="3291840" y="28346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1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9718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88620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3474720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service address is shown only after a worker accepts.</a:t>
            </a:r>
            <a:endParaRPr lang="en-US" sz="1400" dirty="0"/>
          </a:p>
        </p:txBody>
      </p:sp>
      <p:sp>
        <p:nvSpPr>
          <p:cNvPr id="23" name="Rule card Price lock"/>
          <p:cNvSpPr/>
          <p:nvPr/>
        </p:nvSpPr>
        <p:spPr>
          <a:xfrm>
            <a:off x="6126480" y="2834640"/>
            <a:ext cx="2560320" cy="1691640"/>
          </a:xfrm>
          <a:prstGeom prst="roundRect">
            <a:avLst>
              <a:gd name="adj" fmla="val 6486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2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7180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72084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lock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33832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is copied from the service at booking time, so later changes don’t affect it.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Summary (19 routes)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Routes (prefix /api)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/auth/register, /auth/login, /auth/me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/ signed 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/services?search=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Workers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/workers, /workers/me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/ Worker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bookings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/bookings, /bookings/mine, /bookings/:id/cancel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Worker bookings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/bookings/worker, …/worker/available, /:id/accept, /:id/status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/admin/dashboard, users, bookings, workers, /:id/assign, /:id/status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0" marB="0" anchor="ctr">
                    <a:lnL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alpha val="7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Authenticated requests use the header Authorization: Bearer &lt;token&gt;.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Flow</a:t>
            </a:r>
            <a:endParaRPr lang="en-US" sz="3200" dirty="0"/>
          </a:p>
        </p:txBody>
      </p:sp>
      <p:sp>
        <p:nvSpPr>
          <p:cNvPr id="3" name="Demo step 1"/>
          <p:cNvSpPr/>
          <p:nvPr/>
        </p:nvSpPr>
        <p:spPr>
          <a:xfrm>
            <a:off x="457200" y="1188720"/>
            <a:ext cx="1554480" cy="1783080"/>
          </a:xfrm>
          <a:prstGeom prst="roundRect">
            <a:avLst>
              <a:gd name="adj" fmla="val 7059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457200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a customer and a worker</a:t>
            </a:r>
            <a:endParaRPr lang="en-US" sz="1400" dirty="0"/>
          </a:p>
        </p:txBody>
      </p:sp>
      <p:sp>
        <p:nvSpPr>
          <p:cNvPr id="6" name="Demo step 2"/>
          <p:cNvSpPr/>
          <p:nvPr/>
        </p:nvSpPr>
        <p:spPr>
          <a:xfrm>
            <a:off x="2121408" y="1188720"/>
            <a:ext cx="1554480" cy="1783080"/>
          </a:xfrm>
          <a:prstGeom prst="roundRect">
            <a:avLst>
              <a:gd name="adj" fmla="val 7059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 txBox="1"/>
          <p:nvPr/>
        </p:nvSpPr>
        <p:spPr>
          <a:xfrm>
            <a:off x="2121408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12848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books a service for a future date/time</a:t>
            </a:r>
            <a:endParaRPr lang="en-US" sz="1400" dirty="0"/>
          </a:p>
        </p:txBody>
      </p:sp>
      <p:sp>
        <p:nvSpPr>
          <p:cNvPr id="9" name="Demo step 3"/>
          <p:cNvSpPr/>
          <p:nvPr/>
        </p:nvSpPr>
        <p:spPr>
          <a:xfrm>
            <a:off x="3785616" y="1188720"/>
            <a:ext cx="1554480" cy="1783080"/>
          </a:xfrm>
          <a:prstGeom prst="roundRect">
            <a:avLst>
              <a:gd name="adj" fmla="val 7059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 txBox="1"/>
          <p:nvPr/>
        </p:nvSpPr>
        <p:spPr>
          <a:xfrm>
            <a:off x="3785616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877056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accepts it, or admin assigns a worker</a:t>
            </a:r>
            <a:endParaRPr lang="en-US" sz="1400" dirty="0"/>
          </a:p>
        </p:txBody>
      </p:sp>
      <p:sp>
        <p:nvSpPr>
          <p:cNvPr id="12" name="Demo step 4"/>
          <p:cNvSpPr/>
          <p:nvPr/>
        </p:nvSpPr>
        <p:spPr>
          <a:xfrm>
            <a:off x="5449824" y="1188720"/>
            <a:ext cx="1554480" cy="1783080"/>
          </a:xfrm>
          <a:prstGeom prst="roundRect">
            <a:avLst>
              <a:gd name="adj" fmla="val 7059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 txBox="1"/>
          <p:nvPr/>
        </p:nvSpPr>
        <p:spPr>
          <a:xfrm>
            <a:off x="5449824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41264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updates status until completed</a:t>
            </a:r>
            <a:endParaRPr lang="en-US" sz="1400" dirty="0"/>
          </a:p>
        </p:txBody>
      </p:sp>
      <p:sp>
        <p:nvSpPr>
          <p:cNvPr id="15" name="Demo step 5"/>
          <p:cNvSpPr/>
          <p:nvPr/>
        </p:nvSpPr>
        <p:spPr>
          <a:xfrm>
            <a:off x="7114032" y="1188720"/>
            <a:ext cx="1554480" cy="1783080"/>
          </a:xfrm>
          <a:prstGeom prst="roundRect">
            <a:avLst>
              <a:gd name="adj" fmla="val 7059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 txBox="1"/>
          <p:nvPr/>
        </p:nvSpPr>
        <p:spPr>
          <a:xfrm>
            <a:off x="7114032" y="1280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05472" y="18288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dashboard shows completed count and revenue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starting prices</a:t>
            </a:r>
            <a:endParaRPr lang="en-US" sz="1600" dirty="0"/>
          </a:p>
        </p:txBody>
      </p:sp>
      <p:sp>
        <p:nvSpPr>
          <p:cNvPr id="19" name="Price chip Appliance Diagnosis"/>
          <p:cNvSpPr/>
          <p:nvPr/>
        </p:nvSpPr>
        <p:spPr>
          <a:xfrm>
            <a:off x="45720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45720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Appliance Diagnosis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023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650</a:t>
            </a:r>
            <a:endParaRPr lang="en-US" sz="1800" dirty="0"/>
          </a:p>
        </p:txBody>
      </p:sp>
      <p:sp>
        <p:nvSpPr>
          <p:cNvPr id="22" name="Price chip Home Cleaning"/>
          <p:cNvSpPr/>
          <p:nvPr/>
        </p:nvSpPr>
        <p:spPr>
          <a:xfrm>
            <a:off x="256032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56032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Cleaning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023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750</a:t>
            </a:r>
            <a:endParaRPr lang="en-US" sz="1800" dirty="0"/>
          </a:p>
        </p:txBody>
      </p:sp>
      <p:sp>
        <p:nvSpPr>
          <p:cNvPr id="25" name="Price chip Plumbing Repair"/>
          <p:cNvSpPr/>
          <p:nvPr/>
        </p:nvSpPr>
        <p:spPr>
          <a:xfrm>
            <a:off x="466344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 txBox="1"/>
          <p:nvPr/>
        </p:nvSpPr>
        <p:spPr>
          <a:xfrm>
            <a:off x="466344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Repair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4023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750</a:t>
            </a:r>
            <a:endParaRPr lang="en-US" sz="1800" dirty="0"/>
          </a:p>
        </p:txBody>
      </p:sp>
      <p:sp>
        <p:nvSpPr>
          <p:cNvPr id="28" name="Price chip Electrical Service"/>
          <p:cNvSpPr/>
          <p:nvPr/>
        </p:nvSpPr>
        <p:spPr>
          <a:xfrm>
            <a:off x="6766560" y="3611880"/>
            <a:ext cx="1920240" cy="868680"/>
          </a:xfrm>
          <a:prstGeom prst="roundRect">
            <a:avLst>
              <a:gd name="adj" fmla="val 12632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 txBox="1"/>
          <p:nvPr/>
        </p:nvSpPr>
        <p:spPr>
          <a:xfrm>
            <a:off x="6766560" y="367588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Service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40233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800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</a:t>
            </a:r>
            <a:endParaRPr lang="en-US" sz="3200" dirty="0"/>
          </a:p>
        </p:txBody>
      </p:sp>
      <p:sp>
        <p:nvSpPr>
          <p:cNvPr id="3" name="Screenshot frame 1"/>
          <p:cNvSpPr/>
          <p:nvPr/>
        </p:nvSpPr>
        <p:spPr>
          <a:xfrm>
            <a:off x="45720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112744"/>
          </a:solidFill>
          <a:ln w="15875">
            <a:solidFill>
              <a:srgbClr val="00BEAA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screenshot: Home / Services page</a:t>
            </a:r>
            <a:endParaRPr lang="en-US" sz="1600" dirty="0"/>
          </a:p>
        </p:txBody>
      </p:sp>
      <p:sp>
        <p:nvSpPr>
          <p:cNvPr id="5" name="Screenshot frame 2"/>
          <p:cNvSpPr/>
          <p:nvPr/>
        </p:nvSpPr>
        <p:spPr>
          <a:xfrm>
            <a:off x="466344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112744"/>
          </a:solidFill>
          <a:ln w="15875">
            <a:solidFill>
              <a:srgbClr val="00BEAA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 txBox="1"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screenshot: Admin dashboard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59B2C1-FC00-F83C-1F34-C4F7FE72A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417" y="1188720"/>
            <a:ext cx="4079143" cy="31471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356DAE-AA04-7EE8-0AF5-913854D4F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9575" y="1188720"/>
            <a:ext cx="4063008" cy="31471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and Conclusion</a:t>
            </a:r>
            <a:endParaRPr lang="en-US" sz="3200" dirty="0"/>
          </a:p>
        </p:txBody>
      </p:sp>
      <p:pic>
        <p:nvPicPr>
          <p:cNvPr id="3" name="Image 0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61872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118872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login with bcrypt and JWT</a:t>
            </a:r>
            <a:endParaRPr lang="en-US" sz="1600" dirty="0"/>
          </a:p>
        </p:txBody>
      </p:sp>
      <p:pic>
        <p:nvPicPr>
          <p:cNvPr id="5" name="Image 1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10512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4400" y="173736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Searchable service catalog</a:t>
            </a:r>
            <a:endParaRPr lang="en-US" sz="1600" dirty="0"/>
          </a:p>
        </p:txBody>
      </p:sp>
      <p:pic>
        <p:nvPicPr>
          <p:cNvPr id="7" name="Image 2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9152"/>
            <a:ext cx="274320" cy="2743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14400" y="228600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booking and cancellation</a:t>
            </a:r>
            <a:endParaRPr lang="en-US" sz="1600" dirty="0"/>
          </a:p>
        </p:txBody>
      </p:sp>
      <p:pic>
        <p:nvPicPr>
          <p:cNvPr id="9" name="Image 3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07792"/>
            <a:ext cx="274320" cy="2743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14400" y="283464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job claiming and status updates</a:t>
            </a:r>
            <a:endParaRPr lang="en-US" sz="1600" dirty="0"/>
          </a:p>
        </p:txBody>
      </p:sp>
      <p:pic>
        <p:nvPicPr>
          <p:cNvPr id="11" name="Image 4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456432"/>
            <a:ext cx="274320" cy="27432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14400" y="338328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assignment and revenue dashboard</a:t>
            </a:r>
            <a:endParaRPr lang="en-US" sz="1600" dirty="0"/>
          </a:p>
        </p:txBody>
      </p:sp>
      <p:pic>
        <p:nvPicPr>
          <p:cNvPr id="13" name="Image 5" descr="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05072"/>
            <a:ext cx="274320" cy="27432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914400" y="3931920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API protection</a:t>
            </a:r>
            <a:endParaRPr lang="en-US" sz="1600" dirty="0"/>
          </a:p>
        </p:txBody>
      </p:sp>
      <p:sp>
        <p:nvSpPr>
          <p:cNvPr id="15" name="Conclusion card"/>
          <p:cNvSpPr/>
          <p:nvPr/>
        </p:nvSpPr>
        <p:spPr>
          <a:xfrm>
            <a:off x="5212080" y="1188720"/>
            <a:ext cx="3474720" cy="3291840"/>
          </a:xfrm>
          <a:prstGeom prst="roundRect">
            <a:avLst>
              <a:gd name="adj" fmla="val 3333"/>
            </a:avLst>
          </a:prstGeom>
          <a:solidFill>
            <a:srgbClr val="0C18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8"/>
          <p:cNvSpPr txBox="1"/>
          <p:nvPr/>
        </p:nvSpPr>
        <p:spPr>
          <a:xfrm>
            <a:off x="544068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5440680" y="182880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HelpHub brings customers, workers and admins onto one platform for A-Z home services. It simplifies booking, job assignment and progress tracking, with secure, role-based access end to end.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React Documentation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Vite Documentation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vite.dev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Node.js Documentation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nodejs.org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Express.js Documentation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expressjs.com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MySQL Documentation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dev.mysql.com/doc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JWT Introduction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jwt.io</a:t>
            </a:r>
            <a:endParaRPr lang="en-US" sz="16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Project Repository — </a:t>
            </a:r>
            <a:r>
              <a:rPr lang="en-US" sz="1600" u="sng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github.com/Vamsi645/HelpHub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Suggestions?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welcome your questions, feedback and suggestions regarding HelpHub.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pHub">
  <a:themeElements>
    <a:clrScheme name="HelpHub">
      <a:dk1>
        <a:srgbClr val="0A0A10"/>
      </a:dk1>
      <a:lt1>
        <a:srgbClr val="FFFFFF"/>
      </a:lt1>
      <a:dk2>
        <a:srgbClr val="1B1030"/>
      </a:dk2>
      <a:lt2>
        <a:srgbClr val="F3E9F7"/>
      </a:lt2>
      <a:accent1>
        <a:srgbClr val="FF9A5C"/>
      </a:accent1>
      <a:accent2>
        <a:srgbClr val="E056C1"/>
      </a:accent2>
      <a:accent3>
        <a:srgbClr val="8E2DE2"/>
      </a:accent3>
      <a:accent4>
        <a:srgbClr val="FFC27A"/>
      </a:accent4>
      <a:accent5>
        <a:srgbClr val="6C5CE7"/>
      </a:accent5>
      <a:accent6>
        <a:srgbClr val="F25F5C"/>
      </a:accent6>
      <a:hlink>
        <a:srgbClr val="FFC27A"/>
      </a:hlink>
      <a:folHlink>
        <a:srgbClr val="E056C1"/>
      </a:folHlink>
    </a:clrScheme>
    <a:fontScheme name="HelpHub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1086</Words>
  <Application>Microsoft Office PowerPoint</Application>
  <PresentationFormat>On-screen Show (16:9)</PresentationFormat>
  <Paragraphs>216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HelpHub</vt:lpstr>
      <vt:lpstr>PowerPoint Presentation</vt:lpstr>
      <vt:lpstr>Index</vt:lpstr>
      <vt:lpstr>Introduction</vt:lpstr>
      <vt:lpstr>Problem Statement</vt:lpstr>
      <vt:lpstr>Project Structure</vt:lpstr>
      <vt:lpstr>Modules of HelpHub</vt:lpstr>
      <vt:lpstr>Requirements</vt:lpstr>
      <vt:lpstr>System Architecture</vt:lpstr>
      <vt:lpstr>User Roles</vt:lpstr>
      <vt:lpstr>Booking Lifecycle</vt:lpstr>
      <vt:lpstr>API Summary (19 routes)</vt:lpstr>
      <vt:lpstr>Demo Flow</vt:lpstr>
      <vt:lpstr>Screenshots</vt:lpstr>
      <vt:lpstr>Key Features and Conclusion</vt:lpstr>
      <vt:lpstr>References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HelpHub - A-Z Home Services</dc:title>
  <dc:subject>PptxGenJS Presentation</dc:subject>
  <dc:creator>PptxGenJS</dc:creator>
  <cp:lastModifiedBy>Vamsikrishna Daana</cp:lastModifiedBy>
  <cp:revision>4</cp:revision>
  <dcterms:created xsi:type="dcterms:W3CDTF">2026-10-28T17:26:41Z</dcterms:created>
  <dcterms:modified xsi:type="dcterms:W3CDTF">2026-10-28T17:58:32Z</dcterms:modified>
</cp:coreProperties>
</file>